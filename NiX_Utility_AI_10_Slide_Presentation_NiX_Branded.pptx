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3392" y="8046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6D6F5"/>
                </a:solidFill>
                <a:latin typeface="Aptos"/>
              </a:rPr>
              <a:t>UTILITY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943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5F7FA"/>
                </a:solidFill>
                <a:latin typeface="Aptos"/>
              </a:rPr>
              <a:t>Asset Intelligence
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6492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4B2C3"/>
                </a:solidFill>
                <a:latin typeface="Aptos"/>
              </a:rPr>
              <a:t>From field observation to maintenance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3474720" cy="292608"/>
          </a:xfrm>
          <a:prstGeom prst="roundRect">
            <a:avLst/>
          </a:prstGeom>
          <a:solidFill>
            <a:srgbClr val="16202F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986783"/>
            <a:ext cx="3474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36D6F5"/>
                </a:solidFill>
                <a:latin typeface="Aptos"/>
              </a:rPr>
              <a:t>WORKING PROTOTYPE → SOLAR PANEL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916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EB5B"/>
                </a:solidFill>
                <a:latin typeface="Aptos"/>
              </a:rPr>
              <a:t>Platform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681728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Electric • Gas • Renewable • Network-aware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25880"/>
            <a:ext cx="2651760" cy="566928"/>
          </a:xfrm>
          <a:prstGeom prst="roundRect">
            <a:avLst/>
          </a:prstGeom>
          <a:solidFill>
            <a:srgbClr val="111926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435607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6D6F5"/>
                </a:solidFill>
                <a:latin typeface="Aptos"/>
              </a:rPr>
              <a:t>OBSERVE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92640" y="1892807"/>
            <a:ext cx="0" cy="32918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601200" y="2167127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601200" y="2221991"/>
            <a:ext cx="91440" cy="54865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66760" y="2240280"/>
            <a:ext cx="2651760" cy="566928"/>
          </a:xfrm>
          <a:prstGeom prst="roundRect">
            <a:avLst/>
          </a:prstGeom>
          <a:solidFill>
            <a:srgbClr val="111926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3500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B87FF"/>
                </a:solidFill>
                <a:latin typeface="Aptos"/>
              </a:rPr>
              <a:t>UNDERSTAND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92640" y="2807208"/>
            <a:ext cx="0" cy="32918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9601200" y="308152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601200" y="3136392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66760" y="3154680"/>
            <a:ext cx="2651760" cy="566928"/>
          </a:xfrm>
          <a:prstGeom prst="roundRect">
            <a:avLst/>
          </a:prstGeom>
          <a:solidFill>
            <a:srgbClr val="111926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32644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F75FF"/>
                </a:solidFill>
                <a:latin typeface="Aptos"/>
              </a:rPr>
              <a:t>PREDICT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92640" y="3721608"/>
            <a:ext cx="0" cy="329183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9601200" y="3995928"/>
            <a:ext cx="91440" cy="54863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601200" y="4050791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66760" y="4069080"/>
            <a:ext cx="2651760" cy="566928"/>
          </a:xfrm>
          <a:prstGeom prst="roundRect">
            <a:avLst/>
          </a:prstGeom>
          <a:solidFill>
            <a:srgbClr val="111926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41788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AE4C"/>
                </a:solidFill>
                <a:latin typeface="Aptos"/>
              </a:rPr>
              <a:t>PRIORITIZE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92640" y="4636008"/>
            <a:ext cx="0" cy="32918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9601200" y="491032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601200" y="4965192"/>
            <a:ext cx="91440" cy="54863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6760" y="4983480"/>
            <a:ext cx="2651760" cy="566928"/>
          </a:xfrm>
          <a:prstGeom prst="roundRect">
            <a:avLst/>
          </a:prstGeom>
          <a:solidFill>
            <a:srgbClr val="111926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5093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4EB5B"/>
                </a:solidFill>
                <a:latin typeface="Aptos"/>
              </a:rPr>
              <a:t>ACT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01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WHY 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149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The operational gap is between data and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3"/>
                </a:solidFill>
                <a:latin typeface="Aptos"/>
              </a:rPr>
              <a:t>Utilities have the signals. Engineers still have to assemble the story.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83080"/>
            <a:ext cx="3429000" cy="36118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41148" cy="3611880"/>
          </a:xfrm>
          <a:prstGeom prst="rect">
            <a:avLst/>
          </a:prstGeom>
          <a:solidFill>
            <a:srgbClr val="FF5E6A"/>
          </a:solidFill>
          <a:ln>
            <a:solidFill>
              <a:srgbClr val="FF5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31363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221991"/>
            <a:ext cx="3136392" cy="3081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3"/>
                </a:solidFill>
                <a:latin typeface="Aptos"/>
              </a:rPr>
              <a:t>Field photo → separate system
GIS identity → separate system
Maintenance history → separate system
Telemetry / weather → separate system
The engineer manually connects these before deciding what to 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874519"/>
            <a:ext cx="3017520" cy="10972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1874519"/>
            <a:ext cx="41148" cy="1097280"/>
          </a:xfrm>
          <a:prstGeom prst="rect">
            <a:avLst/>
          </a:prstGeom>
          <a:solidFill>
            <a:srgbClr val="36D6F5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1" y="1993391"/>
            <a:ext cx="272491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Aptos"/>
              </a:rPr>
              <a:t>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2313432"/>
            <a:ext cx="272491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A4B2C3"/>
                </a:solidFill>
                <a:latin typeface="Aptos"/>
              </a:rPr>
              <a:t>Photos / video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874519"/>
            <a:ext cx="3017520" cy="10972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18120" y="1874519"/>
            <a:ext cx="41148" cy="1097280"/>
          </a:xfrm>
          <a:prstGeom prst="rect">
            <a:avLst/>
          </a:prstGeom>
          <a:solidFill>
            <a:srgbClr val="5B87FF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82712" y="1993391"/>
            <a:ext cx="272491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Aptos"/>
              </a:rPr>
              <a:t>GIS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313432"/>
            <a:ext cx="272491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A4B2C3"/>
                </a:solidFill>
                <a:latin typeface="Aptos"/>
              </a:rPr>
              <a:t>Asset + geometry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91839"/>
            <a:ext cx="3017520" cy="10972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291839"/>
            <a:ext cx="41148" cy="1097280"/>
          </a:xfrm>
          <a:prstGeom prst="rect">
            <a:avLst/>
          </a:prstGeom>
          <a:solidFill>
            <a:srgbClr val="AF75FF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9431" y="3410711"/>
            <a:ext cx="272491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Aptos"/>
              </a:rP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3730752"/>
            <a:ext cx="272491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A4B2C3"/>
                </a:solidFill>
                <a:latin typeface="Aptos"/>
              </a:rPr>
              <a:t>Inspections /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3291839"/>
            <a:ext cx="3017520" cy="10972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18120" y="3291839"/>
            <a:ext cx="41148" cy="1097280"/>
          </a:xfrm>
          <a:prstGeom prst="rect">
            <a:avLst/>
          </a:prstGeom>
          <a:solidFill>
            <a:srgbClr val="FFAE4C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82712" y="3410711"/>
            <a:ext cx="272491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Aptos"/>
              </a:rPr>
              <a:t>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2" y="3730752"/>
            <a:ext cx="272491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A4B2C3"/>
                </a:solidFill>
                <a:latin typeface="Aptos"/>
              </a:rPr>
              <a:t>Weather / network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4800600"/>
            <a:ext cx="6400800" cy="822960"/>
          </a:xfrm>
          <a:prstGeom prst="roundRect">
            <a:avLst/>
          </a:prstGeom>
          <a:solidFill>
            <a:srgbClr val="16202F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495604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6D6F5"/>
                </a:solidFill>
                <a:latin typeface="Aptos"/>
              </a:rPr>
              <a:t>NIX CONNECTS THE 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01184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“What is happening, why does it matter, and what should we do next?”</a:t>
            </a:r>
          </a:p>
        </p:txBody>
      </p:sp>
      <p:pic>
        <p:nvPicPr>
          <p:cNvPr id="34" name="Picture 33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828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149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One intelligence loop, reusable across asset classes.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3"/>
                </a:solidFill>
                <a:latin typeface="Aptos"/>
              </a:rPr>
              <a:t>The current prototype proves the pattern on solar panels; the platform is designed around a common asset identity.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57400"/>
            <a:ext cx="1371600" cy="13258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057400"/>
            <a:ext cx="41148" cy="1325880"/>
          </a:xfrm>
          <a:prstGeom prst="rect">
            <a:avLst/>
          </a:prstGeom>
          <a:solidFill>
            <a:srgbClr val="36D6F5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176272"/>
            <a:ext cx="1078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107899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4B2C3"/>
                </a:solidFill>
                <a:latin typeface="Aptos"/>
              </a:rPr>
              <a:t>Image / 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848" y="2852928"/>
            <a:ext cx="411480" cy="292608"/>
          </a:xfrm>
          <a:prstGeom prst="roundRect">
            <a:avLst/>
          </a:prstGeom>
          <a:solidFill>
            <a:srgbClr val="16202F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2862072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36D6F5"/>
                </a:solidFill>
                <a:latin typeface="Aptos"/>
              </a:rPr>
              <a:t>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65960" y="2724912"/>
            <a:ext cx="228600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103120" y="267004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03120" y="2724912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94560" y="2057400"/>
            <a:ext cx="1371600" cy="13258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94560" y="2057400"/>
            <a:ext cx="41148" cy="1325880"/>
          </a:xfrm>
          <a:prstGeom prst="rect">
            <a:avLst/>
          </a:prstGeom>
          <a:solidFill>
            <a:srgbClr val="5B87FF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59152" y="2176272"/>
            <a:ext cx="1078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IDENTIFY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9152" y="2496312"/>
            <a:ext cx="107899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4B2C3"/>
                </a:solidFill>
                <a:latin typeface="Aptos"/>
              </a:rPr>
              <a:t>Asset + issue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70048" y="2852928"/>
            <a:ext cx="411480" cy="292608"/>
          </a:xfrm>
          <a:prstGeom prst="roundRect">
            <a:avLst/>
          </a:prstGeom>
          <a:solidFill>
            <a:srgbClr val="16202F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70048" y="2862072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5B87FF"/>
                </a:solidFill>
                <a:latin typeface="Aptos"/>
              </a:rPr>
              <a:t>02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66160" y="2724912"/>
            <a:ext cx="228600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703320" y="267004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703320" y="2724912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94760" y="2057400"/>
            <a:ext cx="1371600" cy="13258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794760" y="2057400"/>
            <a:ext cx="41148" cy="1325880"/>
          </a:xfrm>
          <a:prstGeom prst="rect">
            <a:avLst/>
          </a:prstGeom>
          <a:solidFill>
            <a:srgbClr val="AF75FF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59352" y="2176272"/>
            <a:ext cx="1078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CONTEXTUALIZE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9352" y="2496312"/>
            <a:ext cx="107899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4B2C3"/>
                </a:solidFill>
                <a:latin typeface="Aptos"/>
              </a:rPr>
              <a:t>History + network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0248" y="2852928"/>
            <a:ext cx="411480" cy="292608"/>
          </a:xfrm>
          <a:prstGeom prst="roundRect">
            <a:avLst/>
          </a:prstGeom>
          <a:solidFill>
            <a:srgbClr val="16202F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0248" y="2862072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AF75FF"/>
                </a:solidFill>
                <a:latin typeface="Aptos"/>
              </a:rPr>
              <a:t>03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66360" y="2724912"/>
            <a:ext cx="228600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5303520" y="267004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303520" y="2724912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394960" y="2057400"/>
            <a:ext cx="1371600" cy="13258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394960" y="2057400"/>
            <a:ext cx="41148" cy="1325880"/>
          </a:xfrm>
          <a:prstGeom prst="rect">
            <a:avLst/>
          </a:prstGeom>
          <a:solidFill>
            <a:srgbClr val="FFAE4C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59552" y="2176272"/>
            <a:ext cx="1078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PREDICT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2496312"/>
            <a:ext cx="107899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4B2C3"/>
                </a:solidFill>
                <a:latin typeface="Aptos"/>
              </a:rPr>
              <a:t>Health + risk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70448" y="2852928"/>
            <a:ext cx="411480" cy="292608"/>
          </a:xfrm>
          <a:prstGeom prst="roundRect">
            <a:avLst/>
          </a:prstGeom>
          <a:solidFill>
            <a:srgbClr val="16202F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70448" y="2862072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AE4C"/>
                </a:solidFill>
                <a:latin typeface="Aptos"/>
              </a:rPr>
              <a:t>04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66560" y="2724912"/>
            <a:ext cx="228600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6903720" y="267004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6903720" y="2724912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995160" y="2057400"/>
            <a:ext cx="1371600" cy="13258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995160" y="2057400"/>
            <a:ext cx="41148" cy="1325880"/>
          </a:xfrm>
          <a:prstGeom prst="rect">
            <a:avLst/>
          </a:prstGeom>
          <a:solidFill>
            <a:srgbClr val="FF5E6A"/>
          </a:solidFill>
          <a:ln>
            <a:solidFill>
              <a:srgbClr val="FF5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59752" y="2176272"/>
            <a:ext cx="1078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PRIORITIZE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9752" y="2496312"/>
            <a:ext cx="107899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4B2C3"/>
                </a:solidFill>
                <a:latin typeface="Aptos"/>
              </a:rPr>
              <a:t>Action + timing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70648" y="2852928"/>
            <a:ext cx="411480" cy="292608"/>
          </a:xfrm>
          <a:prstGeom prst="roundRect">
            <a:avLst/>
          </a:prstGeom>
          <a:solidFill>
            <a:srgbClr val="16202F"/>
          </a:solidFill>
          <a:ln>
            <a:solidFill>
              <a:srgbClr val="FF5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70648" y="2862072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5E6A"/>
                </a:solidFill>
                <a:latin typeface="Aptos"/>
              </a:rPr>
              <a:t>05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66760" y="2724912"/>
            <a:ext cx="228600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8503920" y="267004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8503920" y="2724912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595360" y="2057400"/>
            <a:ext cx="1371600" cy="13258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595360" y="2057400"/>
            <a:ext cx="41148" cy="1325880"/>
          </a:xfrm>
          <a:prstGeom prst="rect">
            <a:avLst/>
          </a:prstGeom>
          <a:solidFill>
            <a:srgbClr val="A4EB5B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759952" y="2176272"/>
            <a:ext cx="1078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59952" y="2496312"/>
            <a:ext cx="107899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4B2C3"/>
                </a:solidFill>
                <a:latin typeface="Aptos"/>
              </a:rPr>
              <a:t>Approve + execute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70848" y="2852928"/>
            <a:ext cx="411480" cy="292608"/>
          </a:xfrm>
          <a:prstGeom prst="roundRect">
            <a:avLst/>
          </a:prstGeom>
          <a:solidFill>
            <a:srgbClr val="16202F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70848" y="2862072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A4EB5B"/>
                </a:solidFill>
                <a:latin typeface="Aptos"/>
              </a:rPr>
              <a:t>06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966960" y="2724912"/>
            <a:ext cx="228600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0104120" y="267004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0104120" y="2724912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0195560" y="2057400"/>
            <a:ext cx="1371600" cy="13258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195560" y="2057400"/>
            <a:ext cx="41148" cy="1325880"/>
          </a:xfrm>
          <a:prstGeom prst="rect">
            <a:avLst/>
          </a:prstGeom>
          <a:solidFill>
            <a:srgbClr val="36D6F5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360152" y="2176272"/>
            <a:ext cx="1078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LEARN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60152" y="2496312"/>
            <a:ext cx="107899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4B2C3"/>
                </a:solidFill>
                <a:latin typeface="Aptos"/>
              </a:rPr>
              <a:t>Outcome feedback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71048" y="2852928"/>
            <a:ext cx="411480" cy="292608"/>
          </a:xfrm>
          <a:prstGeom prst="roundRect">
            <a:avLst/>
          </a:prstGeom>
          <a:solidFill>
            <a:srgbClr val="16202F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671048" y="2862072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36D6F5"/>
                </a:solidFill>
                <a:latin typeface="Aptos"/>
              </a:rPr>
              <a:t>07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" y="4069080"/>
            <a:ext cx="10972800" cy="1417320"/>
          </a:xfrm>
          <a:prstGeom prst="roundRect">
            <a:avLst/>
          </a:prstGeom>
          <a:solidFill>
            <a:srgbClr val="16202F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96112" y="431596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EB5B"/>
                </a:solidFill>
                <a:latin typeface="Aptos"/>
              </a:rPr>
              <a:t>SIGNATURE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11680" y="4224528"/>
            <a:ext cx="8869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From a photo to a decision — not just a detection.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11680" y="4736592"/>
            <a:ext cx="8869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3"/>
                </a:solidFill>
                <a:latin typeface="Aptos"/>
              </a:rPr>
              <a:t>Prototype: Solar Panel  |  Platform target: Electric + Gas + Renewable assets</a:t>
            </a:r>
          </a:p>
        </p:txBody>
      </p:sp>
      <p:pic>
        <p:nvPicPr>
          <p:cNvPr id="75" name="Picture 74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828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149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What is actually working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3"/>
                </a:solidFill>
                <a:latin typeface="Aptos"/>
              </a:rPr>
              <a:t>A complete solar-panel asset workflow — from geotagged observation to maintenance planning.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91640"/>
            <a:ext cx="5166360" cy="8229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691640"/>
            <a:ext cx="41148" cy="822960"/>
          </a:xfrm>
          <a:prstGeom prst="rect">
            <a:avLst/>
          </a:prstGeom>
          <a:solidFill>
            <a:srgbClr val="36D6F5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1810512"/>
            <a:ext cx="487375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PHOTO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130552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GPS extraction • spatial match • review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166360" cy="8229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41148" cy="822960"/>
          </a:xfrm>
          <a:prstGeom prst="rect">
            <a:avLst/>
          </a:prstGeom>
          <a:solidFill>
            <a:srgbClr val="5B87FF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1810512"/>
            <a:ext cx="487375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AI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130552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EfficientNetB0 pipeline • confidence handling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61488"/>
            <a:ext cx="5166360" cy="8229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2761488"/>
            <a:ext cx="41148" cy="822960"/>
          </a:xfrm>
          <a:prstGeom prst="rect">
            <a:avLst/>
          </a:prstGeom>
          <a:solidFill>
            <a:srgbClr val="A4EB5B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2880360"/>
            <a:ext cx="487375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GIS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200400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PostGIS intersection + proximity matching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761488"/>
            <a:ext cx="5166360" cy="8229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2761488"/>
            <a:ext cx="41148" cy="822960"/>
          </a:xfrm>
          <a:prstGeom prst="rect">
            <a:avLst/>
          </a:prstGeom>
          <a:solidFill>
            <a:srgbClr val="FFAE4C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2880360"/>
            <a:ext cx="487375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RISK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200400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Severity • age • impact • recurrence • overdue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831335"/>
            <a:ext cx="5166360" cy="8229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3831335"/>
            <a:ext cx="41148" cy="822960"/>
          </a:xfrm>
          <a:prstGeom prst="rect">
            <a:avLst/>
          </a:prstGeom>
          <a:solidFill>
            <a:srgbClr val="AF75FF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1" y="3950207"/>
            <a:ext cx="487375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MAINTENANCE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" y="4270248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Overdue • too-late • station bundling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31335"/>
            <a:ext cx="5166360" cy="8229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3831335"/>
            <a:ext cx="41148" cy="822960"/>
          </a:xfrm>
          <a:prstGeom prst="rect">
            <a:avLst/>
          </a:prstGeom>
          <a:solidFill>
            <a:srgbClr val="36D6F5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3950207"/>
            <a:ext cx="487375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270248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Bounded tools for asset / risk / area queries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901183"/>
            <a:ext cx="5166360" cy="8229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4901183"/>
            <a:ext cx="41148" cy="822960"/>
          </a:xfrm>
          <a:prstGeom prst="rect">
            <a:avLst/>
          </a:prstGeom>
          <a:solidFill>
            <a:srgbClr val="FF5E6A"/>
          </a:solidFill>
          <a:ln>
            <a:solidFill>
              <a:srgbClr val="FF5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1" y="5020055"/>
            <a:ext cx="487375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HUMAN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" y="5340096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Review → confirm → decision → ticket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901183"/>
            <a:ext cx="5166360" cy="8229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72200" y="4901183"/>
            <a:ext cx="41148" cy="822960"/>
          </a:xfrm>
          <a:prstGeom prst="rect">
            <a:avLst/>
          </a:prstGeom>
          <a:solidFill>
            <a:srgbClr val="A4EB5B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36792" y="5020055"/>
            <a:ext cx="487375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WORKFLOW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5340096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Draft work order • notifications • schedule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989320"/>
            <a:ext cx="10927080" cy="310896"/>
          </a:xfrm>
          <a:prstGeom prst="roundRect">
            <a:avLst/>
          </a:prstGeom>
          <a:solidFill>
            <a:srgbClr val="16202F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604418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SCOPE CLARITY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19" y="6025896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F5F7FA"/>
                </a:solidFill>
                <a:latin typeface="Aptos"/>
              </a:rPr>
              <a:t>The working prototype is intentionally limited to one asset class: solar panels.</a:t>
            </a:r>
          </a:p>
        </p:txBody>
      </p:sp>
      <p:pic>
        <p:nvPicPr>
          <p:cNvPr id="46" name="Picture 45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828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ASSET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149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The Asset Passport is the core unit of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3"/>
                </a:solidFill>
                <a:latin typeface="Aptos"/>
              </a:rPr>
              <a:t>Every observation is anchored to a known asset and enriched with the context needed for a decision.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3383280" cy="3977639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41148" cy="3977639"/>
          </a:xfrm>
          <a:prstGeom prst="rect">
            <a:avLst/>
          </a:prstGeom>
          <a:solidFill>
            <a:srgbClr val="36D6F5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1856231"/>
            <a:ext cx="309067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ASSET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176272"/>
            <a:ext cx="3090672" cy="3447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3"/>
                </a:solidFill>
                <a:latin typeface="Aptos"/>
              </a:rPr>
              <a:t>Asset ID
GIS geometry / location
Installation / capacity
Station / area
Source observation
The asset becomes the anchor for every downstream 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737360"/>
            <a:ext cx="3383280" cy="3977639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737360"/>
            <a:ext cx="41148" cy="3977639"/>
          </a:xfrm>
          <a:prstGeom prst="rect">
            <a:avLst/>
          </a:prstGeom>
          <a:solidFill>
            <a:srgbClr val="AF75FF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1856231"/>
            <a:ext cx="309067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CONDITION +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176272"/>
            <a:ext cx="3090672" cy="3447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3"/>
                </a:solidFill>
                <a:latin typeface="Aptos"/>
              </a:rPr>
              <a:t>Detected issue
Severity + confidence
Inspection history
Maintenance history
Recurrence
Age / overdue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737360"/>
            <a:ext cx="3383280" cy="3977639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737360"/>
            <a:ext cx="41148" cy="3977639"/>
          </a:xfrm>
          <a:prstGeom prst="rect">
            <a:avLst/>
          </a:prstGeom>
          <a:solidFill>
            <a:srgbClr val="FFAE4C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856231"/>
            <a:ext cx="309067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176272"/>
            <a:ext cx="3090672" cy="3447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3"/>
                </a:solidFill>
                <a:latin typeface="Aptos"/>
              </a:rPr>
              <a:t>Risk score + level
Impact / consequence
Recommended action
Scheduling / bundling
Evidence + provenance
Approval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70448"/>
            <a:ext cx="10881360" cy="384048"/>
          </a:xfrm>
          <a:prstGeom prst="roundRect">
            <a:avLst/>
          </a:prstGeom>
          <a:solidFill>
            <a:srgbClr val="16202F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952744"/>
            <a:ext cx="10424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7FA"/>
                </a:solidFill>
                <a:latin typeface="Aptos"/>
              </a:rPr>
              <a:t>ASSET PASSPORT  =  IDENTITY  +  CONDITION  +  CONTEXT  +  DECISION</a:t>
            </a:r>
          </a:p>
        </p:txBody>
      </p:sp>
      <p:pic>
        <p:nvPicPr>
          <p:cNvPr id="25" name="Picture 24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828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149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3"/>
                </a:solidFill>
                <a:latin typeface="Aptos"/>
              </a:rPr>
              <a:t>The prototype stack is modular so future utility data sources and asset adapters can plug into the same decision layer.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27632"/>
            <a:ext cx="2057400" cy="749808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627632"/>
            <a:ext cx="41148" cy="749808"/>
          </a:xfrm>
          <a:prstGeom prst="rect">
            <a:avLst/>
          </a:prstGeom>
          <a:solidFill>
            <a:srgbClr val="36D6F5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1746504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066543"/>
            <a:ext cx="1764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A4B2C3"/>
                </a:solidFill>
                <a:latin typeface="Aptos"/>
              </a:rPr>
              <a:t>RGB / future thermal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24912" y="1627632"/>
            <a:ext cx="2057400" cy="749808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24912" y="1627632"/>
            <a:ext cx="41148" cy="749808"/>
          </a:xfrm>
          <a:prstGeom prst="rect">
            <a:avLst/>
          </a:prstGeom>
          <a:solidFill>
            <a:srgbClr val="5B87FF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9504" y="1746504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2066543"/>
            <a:ext cx="1764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A4B2C3"/>
                </a:solidFill>
                <a:latin typeface="Aptos"/>
              </a:rPr>
              <a:t>PostGIS / layers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8344" y="1627632"/>
            <a:ext cx="2057400" cy="749808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38344" y="1627632"/>
            <a:ext cx="41148" cy="749808"/>
          </a:xfrm>
          <a:prstGeom prst="rect">
            <a:avLst/>
          </a:prstGeom>
          <a:solidFill>
            <a:srgbClr val="AF75FF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02936" y="1746504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2066543"/>
            <a:ext cx="1764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A4B2C3"/>
                </a:solidFill>
                <a:latin typeface="Aptos"/>
              </a:rPr>
              <a:t>Inspections /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1775" y="1627632"/>
            <a:ext cx="2057400" cy="749808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51775" y="1627632"/>
            <a:ext cx="41148" cy="749808"/>
          </a:xfrm>
          <a:prstGeom prst="rect">
            <a:avLst/>
          </a:prstGeom>
          <a:solidFill>
            <a:srgbClr val="FFAE4C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16367" y="1746504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7" y="2066543"/>
            <a:ext cx="1764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A4B2C3"/>
                </a:solidFill>
                <a:latin typeface="Aptos"/>
              </a:rPr>
              <a:t>SCADA / sensors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65207" y="1627632"/>
            <a:ext cx="2057400" cy="749808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65207" y="1627632"/>
            <a:ext cx="41148" cy="749808"/>
          </a:xfrm>
          <a:prstGeom prst="rect">
            <a:avLst/>
          </a:prstGeom>
          <a:solidFill>
            <a:srgbClr val="A4EB5B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29799" y="1746504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799" y="2066543"/>
            <a:ext cx="1764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A4B2C3"/>
                </a:solidFill>
                <a:latin typeface="Aptos"/>
              </a:rPr>
              <a:t>Weather / network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9904" y="2395728"/>
            <a:ext cx="0" cy="292608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998464" y="2633472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998464" y="2688336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2920" y="2651760"/>
            <a:ext cx="10972800" cy="475488"/>
          </a:xfrm>
          <a:prstGeom prst="roundRect">
            <a:avLst/>
          </a:prstGeom>
          <a:solidFill>
            <a:srgbClr val="16202F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2770632"/>
            <a:ext cx="10515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A4B2C3"/>
                </a:solidFill>
                <a:latin typeface="Aptos"/>
              </a:rPr>
              <a:t>INGEST • NORMALIZE • VALIDATE • DEDUPLICATE • TIMESTAMP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3401568"/>
            <a:ext cx="2057400" cy="8686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1480" y="3401568"/>
            <a:ext cx="41148" cy="868680"/>
          </a:xfrm>
          <a:prstGeom prst="rect">
            <a:avLst/>
          </a:prstGeom>
          <a:solidFill>
            <a:srgbClr val="36D6F5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" y="3520440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F5F7FA"/>
                </a:solidFill>
                <a:latin typeface="Aptos"/>
              </a:rP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" y="3840480"/>
            <a:ext cx="176479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A4B2C3"/>
                </a:solidFill>
                <a:latin typeface="Aptos"/>
              </a:rPr>
              <a:t>Classifier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24912" y="3401568"/>
            <a:ext cx="2057400" cy="8686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24912" y="3401568"/>
            <a:ext cx="41148" cy="868680"/>
          </a:xfrm>
          <a:prstGeom prst="rect">
            <a:avLst/>
          </a:prstGeom>
          <a:solidFill>
            <a:srgbClr val="5B87FF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89504" y="3520440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F5F7FA"/>
                </a:solidFill>
                <a:latin typeface="Aptos"/>
              </a:rPr>
              <a:t>GEO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9504" y="3840480"/>
            <a:ext cx="176479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A4B2C3"/>
                </a:solidFill>
                <a:latin typeface="Aptos"/>
              </a:rPr>
              <a:t>Asset match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38344" y="3401568"/>
            <a:ext cx="2057400" cy="8686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38344" y="3401568"/>
            <a:ext cx="41148" cy="868680"/>
          </a:xfrm>
          <a:prstGeom prst="rect">
            <a:avLst/>
          </a:prstGeom>
          <a:solidFill>
            <a:srgbClr val="AF75FF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02936" y="3520440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F5F7FA"/>
                </a:solidFill>
                <a:latin typeface="Aptos"/>
              </a:rPr>
              <a:t>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02936" y="3840480"/>
            <a:ext cx="176479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A4B2C3"/>
                </a:solidFill>
                <a:latin typeface="Aptos"/>
              </a:rPr>
              <a:t>Enrichment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51775" y="3401568"/>
            <a:ext cx="2057400" cy="8686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351775" y="3401568"/>
            <a:ext cx="41148" cy="868680"/>
          </a:xfrm>
          <a:prstGeom prst="rect">
            <a:avLst/>
          </a:prstGeom>
          <a:solidFill>
            <a:srgbClr val="FFAE4C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16367" y="3520440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F5F7FA"/>
                </a:solidFill>
                <a:latin typeface="Aptos"/>
              </a:rPr>
              <a:t>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16367" y="3840480"/>
            <a:ext cx="176479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A4B2C3"/>
                </a:solidFill>
                <a:latin typeface="Aptos"/>
              </a:rPr>
              <a:t>Deterministic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65207" y="3401568"/>
            <a:ext cx="2057400" cy="8686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665207" y="3401568"/>
            <a:ext cx="41148" cy="868680"/>
          </a:xfrm>
          <a:prstGeom prst="rect">
            <a:avLst/>
          </a:prstGeom>
          <a:solidFill>
            <a:srgbClr val="A4EB5B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29799" y="3520440"/>
            <a:ext cx="17647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F5F7FA"/>
                </a:solidFill>
                <a:latin typeface="Aptos"/>
              </a:rPr>
              <a:t>RAG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799" y="3840480"/>
            <a:ext cx="1764792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A4B2C3"/>
                </a:solidFill>
                <a:latin typeface="Aptos"/>
              </a:rPr>
              <a:t>Playbooks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089904" y="4297680"/>
            <a:ext cx="0" cy="27432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5998464" y="4517136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5998464" y="4572000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02920" y="4553712"/>
            <a:ext cx="10972800" cy="530352"/>
          </a:xfrm>
          <a:prstGeom prst="roundRect">
            <a:avLst/>
          </a:prstGeom>
          <a:solidFill>
            <a:srgbClr val="16202F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5800" y="4700016"/>
            <a:ext cx="106070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7FA"/>
                </a:solidFill>
                <a:latin typeface="Aptos"/>
              </a:rPr>
              <a:t>SUPERVISOR / ORCHESTRATION  •  TOOL CALLING  •  EVIDENCE  •  RECOMMENDATION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376672"/>
            <a:ext cx="2057400" cy="502920"/>
          </a:xfrm>
          <a:prstGeom prst="roundRect">
            <a:avLst/>
          </a:prstGeom>
          <a:solidFill>
            <a:srgbClr val="111926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5522976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36D6F5"/>
                </a:solidFill>
                <a:latin typeface="Aptos"/>
              </a:rPr>
              <a:t>PASSPORT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24912" y="5376672"/>
            <a:ext cx="2057400" cy="502920"/>
          </a:xfrm>
          <a:prstGeom prst="roundRect">
            <a:avLst/>
          </a:prstGeom>
          <a:solidFill>
            <a:srgbClr val="111926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70632" y="5522976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AE4C"/>
                </a:solidFill>
                <a:latin typeface="Aptos"/>
              </a:rPr>
              <a:t>RISK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38344" y="5376672"/>
            <a:ext cx="2057400" cy="502920"/>
          </a:xfrm>
          <a:prstGeom prst="roundRect">
            <a:avLst/>
          </a:prstGeom>
          <a:solidFill>
            <a:srgbClr val="111926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84064" y="5522976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A4EB5B"/>
                </a:solidFill>
                <a:latin typeface="Aptos"/>
              </a:rPr>
              <a:t>PLANNER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51775" y="5376672"/>
            <a:ext cx="2057400" cy="502920"/>
          </a:xfrm>
          <a:prstGeom prst="roundRect">
            <a:avLst/>
          </a:prstGeom>
          <a:solidFill>
            <a:srgbClr val="111926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97496" y="5522976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5B87FF"/>
                </a:solidFill>
                <a:latin typeface="Aptos"/>
              </a:rPr>
              <a:t>CHAT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65207" y="5376672"/>
            <a:ext cx="2057400" cy="502920"/>
          </a:xfrm>
          <a:prstGeom prst="roundRect">
            <a:avLst/>
          </a:prstGeom>
          <a:solidFill>
            <a:srgbClr val="111926"/>
          </a:solidFill>
          <a:ln>
            <a:solidFill>
              <a:srgbClr val="FF5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710928" y="5522976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5E6A"/>
                </a:solidFill>
                <a:latin typeface="Aptos"/>
              </a:rPr>
              <a:t>WORK ORDER</a:t>
            </a:r>
          </a:p>
        </p:txBody>
      </p:sp>
      <p:pic>
        <p:nvPicPr>
          <p:cNvPr id="71" name="Picture 70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828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DECISION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149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Risk is computed, explained and acted upon.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3"/>
                </a:solidFill>
                <a:latin typeface="Aptos"/>
              </a:rPr>
              <a:t>LLMs orchestrate and explain. Safety-critical scoring stays deterministic and auditable.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10789920" cy="960120"/>
          </a:xfrm>
          <a:prstGeom prst="roundRect">
            <a:avLst/>
          </a:prstGeom>
          <a:solidFill>
            <a:srgbClr val="16202F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RISK  =  SEVERITY  ×  CONSEQUENCE  ×  CONTEXTUAL EXPOSURE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920240" cy="11430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41148" cy="1143000"/>
          </a:xfrm>
          <a:prstGeom prst="rect">
            <a:avLst/>
          </a:prstGeom>
          <a:solidFill>
            <a:srgbClr val="FF5E6A"/>
          </a:solidFill>
          <a:ln>
            <a:solidFill>
              <a:srgbClr val="FF5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3273552"/>
            <a:ext cx="162763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SEVERITY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593592"/>
            <a:ext cx="1627632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B2C3"/>
                </a:solidFill>
                <a:latin typeface="Aptos"/>
              </a:rPr>
              <a:t>What is wrong?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39" y="3154680"/>
            <a:ext cx="1920240" cy="11430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34639" y="3154680"/>
            <a:ext cx="41148" cy="1143000"/>
          </a:xfrm>
          <a:prstGeom prst="rect">
            <a:avLst/>
          </a:prstGeom>
          <a:solidFill>
            <a:srgbClr val="5B87FF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99232" y="3273552"/>
            <a:ext cx="162763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3593592"/>
            <a:ext cx="1627632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B2C3"/>
                </a:solidFill>
                <a:latin typeface="Aptos"/>
              </a:rPr>
              <a:t>How mature?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154680"/>
            <a:ext cx="1920240" cy="11430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0" y="3154680"/>
            <a:ext cx="41148" cy="1143000"/>
          </a:xfrm>
          <a:prstGeom prst="rect">
            <a:avLst/>
          </a:prstGeom>
          <a:solidFill>
            <a:srgbClr val="A4EB5B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93792" y="3273552"/>
            <a:ext cx="162763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3593592"/>
            <a:ext cx="1627632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B2C3"/>
                </a:solidFill>
                <a:latin typeface="Aptos"/>
              </a:rPr>
              <a:t>Who is affected?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59" y="3154680"/>
            <a:ext cx="1920240" cy="11430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23759" y="3154680"/>
            <a:ext cx="41148" cy="1143000"/>
          </a:xfrm>
          <a:prstGeom prst="rect">
            <a:avLst/>
          </a:prstGeom>
          <a:solidFill>
            <a:srgbClr val="AF75FF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8352" y="3273552"/>
            <a:ext cx="162763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RECURRENCE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3593592"/>
            <a:ext cx="1627632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B2C3"/>
                </a:solidFill>
                <a:latin typeface="Aptos"/>
              </a:rPr>
              <a:t>Repeated issue?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3154680"/>
            <a:ext cx="1920240" cy="11430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18319" y="3154680"/>
            <a:ext cx="41148" cy="1143000"/>
          </a:xfrm>
          <a:prstGeom prst="rect">
            <a:avLst/>
          </a:prstGeom>
          <a:solidFill>
            <a:srgbClr val="FFAE4C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82911" y="3273552"/>
            <a:ext cx="162763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OVERDUE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1" y="3593592"/>
            <a:ext cx="1627632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B2C3"/>
                </a:solidFill>
                <a:latin typeface="Aptos"/>
              </a:rPr>
              <a:t>Already late?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10881360" cy="109728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82803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6D6F5"/>
                </a:solidFill>
                <a:latin typeface="Aptos"/>
              </a:rPr>
              <a:t>WHAT THE AI DOES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754880"/>
            <a:ext cx="8641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Explains risk drivers • queries assets • retrieves approved playbooks • proposes timing • prepares the next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28523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EB5B"/>
                </a:solidFill>
                <a:latin typeface="Aptos"/>
              </a:rPr>
              <a:t>WHAT THE HUMAN DOES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230368"/>
            <a:ext cx="8641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3"/>
                </a:solidFill>
                <a:latin typeface="Aptos"/>
              </a:rPr>
              <a:t>Reviews evidence and approves operational action.</a:t>
            </a:r>
          </a:p>
        </p:txBody>
      </p:sp>
      <p:pic>
        <p:nvPicPr>
          <p:cNvPr id="38" name="Picture 37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828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MAINTENANCE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149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From “high risk” to an actionable queue.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3"/>
                </a:solidFill>
                <a:latin typeface="Aptos"/>
              </a:rPr>
              <a:t>The prototype already contains operational planning logic and bounded conversational access.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3429000" cy="35661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737360"/>
            <a:ext cx="41148" cy="3566160"/>
          </a:xfrm>
          <a:prstGeom prst="rect">
            <a:avLst/>
          </a:prstGeom>
          <a:solidFill>
            <a:srgbClr val="A4EB5B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1856231"/>
            <a:ext cx="31363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MAINTENANCE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176272"/>
            <a:ext cx="3136392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3"/>
                </a:solidFill>
                <a:latin typeface="Aptos"/>
              </a:rPr>
              <a:t>• Overdue work
• Scheduled-too-late work
• Station / visit bundling
• Risk-ranked queue
• Schedule recommendations
Future: crew, route, budget and outage optimization.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737360"/>
            <a:ext cx="3429000" cy="35661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737360"/>
            <a:ext cx="41148" cy="3566160"/>
          </a:xfrm>
          <a:prstGeom prst="rect">
            <a:avLst/>
          </a:prstGeom>
          <a:solidFill>
            <a:srgbClr val="5B87FF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1856231"/>
            <a:ext cx="31363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CONVERSATIONAL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176272"/>
            <a:ext cx="3136392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3"/>
                </a:solidFill>
                <a:latin typeface="Aptos"/>
              </a:rPr>
              <a:t>Engineer asks:
“Which assets are highest risk?”
“Why is this one urgent?”
“What visits are planned?”
Bounded tools:
asset • area • risk • visits • scheduling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737360"/>
            <a:ext cx="3429000" cy="356616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79" y="1737360"/>
            <a:ext cx="41148" cy="3566160"/>
          </a:xfrm>
          <a:prstGeom prst="rect">
            <a:avLst/>
          </a:prstGeom>
          <a:solidFill>
            <a:srgbClr val="FF5E6A"/>
          </a:solidFill>
          <a:ln>
            <a:solidFill>
              <a:srgbClr val="FF5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1" y="1856231"/>
            <a:ext cx="31363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TRUST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176272"/>
            <a:ext cx="3136392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3"/>
                </a:solidFill>
                <a:latin typeface="Aptos"/>
              </a:rPr>
              <a:t>Deterministic risk
No free-form SQL
Review queue for ambiguity
Human approval before work action
Evidence / model metadata can be retained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32120"/>
            <a:ext cx="11018520" cy="566928"/>
          </a:xfrm>
          <a:prstGeom prst="roundRect">
            <a:avLst/>
          </a:prstGeom>
          <a:solidFill>
            <a:srgbClr val="16202F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65099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1">
                <a:solidFill>
                  <a:srgbClr val="36D6F5"/>
                </a:solidFill>
                <a:latin typeface="Aptos"/>
              </a:rPr>
              <a:t>THE KILLER FUTURE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605272"/>
            <a:ext cx="8366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Aptos"/>
              </a:rPr>
              <a:t>“Which 20 assets should we repair this week to minimize expected customer impact?”</a:t>
            </a:r>
          </a:p>
        </p:txBody>
      </p:sp>
      <p:pic>
        <p:nvPicPr>
          <p:cNvPr id="26" name="Picture 25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828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149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From solar prototype to utility-wide Asset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3"/>
                </a:solidFill>
                <a:latin typeface="Aptos"/>
              </a:rPr>
              <a:t>Expand the same core architecture instead of creating separate point solutions.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1664208" cy="20574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41148" cy="2057400"/>
          </a:xfrm>
          <a:prstGeom prst="rect">
            <a:avLst/>
          </a:prstGeom>
          <a:solidFill>
            <a:srgbClr val="36D6F5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1371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267712"/>
            <a:ext cx="137160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Solar panel
working prototype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2852928"/>
            <a:ext cx="237744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313432" y="2798064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313432" y="285292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404872" y="1828800"/>
            <a:ext cx="1664208" cy="20574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04872" y="1828800"/>
            <a:ext cx="41148" cy="2057400"/>
          </a:xfrm>
          <a:prstGeom prst="rect">
            <a:avLst/>
          </a:prstGeom>
          <a:solidFill>
            <a:srgbClr val="5B87FF"/>
          </a:solidFill>
          <a:ln>
            <a:solidFill>
              <a:srgbClr val="5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9464" y="1947672"/>
            <a:ext cx="1371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2267712"/>
            <a:ext cx="137160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Multimodal vision
RGB + thermal + UAV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2852928"/>
            <a:ext cx="237744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215384" y="2798064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215384" y="285292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06824" y="1828800"/>
            <a:ext cx="1664208" cy="20574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06824" y="1828800"/>
            <a:ext cx="41148" cy="2057400"/>
          </a:xfrm>
          <a:prstGeom prst="rect">
            <a:avLst/>
          </a:prstGeom>
          <a:solidFill>
            <a:srgbClr val="FFAE4C"/>
          </a:solidFill>
          <a:ln>
            <a:solidFill>
              <a:srgbClr val="FFA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71416" y="1947672"/>
            <a:ext cx="1371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267712"/>
            <a:ext cx="137160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Electric + gas
asset adapters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71032" y="2852928"/>
            <a:ext cx="237744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6117336" y="2798064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117336" y="285292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08776" y="1828800"/>
            <a:ext cx="1664208" cy="20574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08776" y="1828800"/>
            <a:ext cx="41148" cy="2057400"/>
          </a:xfrm>
          <a:prstGeom prst="rect">
            <a:avLst/>
          </a:prstGeom>
          <a:solidFill>
            <a:srgbClr val="AF75FF"/>
          </a:solidFill>
          <a:ln>
            <a:solidFill>
              <a:srgbClr val="AF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3368" y="1947672"/>
            <a:ext cx="1371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2267712"/>
            <a:ext cx="137160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Asset health +
consequence model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72983" y="2852928"/>
            <a:ext cx="237745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8019288" y="2798064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019288" y="285292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110728" y="1828800"/>
            <a:ext cx="1664208" cy="20574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10728" y="1828800"/>
            <a:ext cx="41148" cy="2057400"/>
          </a:xfrm>
          <a:prstGeom prst="rect">
            <a:avLst/>
          </a:prstGeom>
          <a:solidFill>
            <a:srgbClr val="A4EB5B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20" y="1947672"/>
            <a:ext cx="1371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OPTIMIZE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2267712"/>
            <a:ext cx="137160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What-if + crew /
budget optimizer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774936" y="2852928"/>
            <a:ext cx="237744" cy="0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9921240" y="2798064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921240" y="2852928"/>
            <a:ext cx="91440" cy="54864"/>
          </a:xfrm>
          <a:prstGeom prst="line">
            <a:avLst/>
          </a:prstGeom>
          <a:ln w="1778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012680" y="1828800"/>
            <a:ext cx="1664208" cy="20574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012680" y="1828800"/>
            <a:ext cx="41148" cy="2057400"/>
          </a:xfrm>
          <a:prstGeom prst="rect">
            <a:avLst/>
          </a:prstGeom>
          <a:solidFill>
            <a:srgbClr val="FF5E6A"/>
          </a:solidFill>
          <a:ln>
            <a:solidFill>
              <a:srgbClr val="FF5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177272" y="1947672"/>
            <a:ext cx="1371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LEARN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77272" y="2267712"/>
            <a:ext cx="137160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3"/>
                </a:solidFill>
                <a:latin typeface="Aptos"/>
              </a:rPr>
              <a:t>Closed-loop outcomes
+ continuous improvement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34840"/>
            <a:ext cx="10972800" cy="822960"/>
          </a:xfrm>
          <a:prstGeom prst="roundRect">
            <a:avLst/>
          </a:prstGeom>
          <a:solidFill>
            <a:srgbClr val="16202F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" y="4645152"/>
            <a:ext cx="1920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EB5B"/>
                </a:solidFill>
                <a:latin typeface="Aptos"/>
              </a:rPr>
              <a:t>NEW INTELLIGENCE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4581144"/>
            <a:ext cx="8412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F5F7FA"/>
                </a:solidFill>
                <a:latin typeface="Aptos"/>
              </a:rPr>
              <a:t>Vegetation • encroachment / ROW • weather • network consequence • asset health • maintenance optimization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" y="5468112"/>
            <a:ext cx="10972800" cy="566928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564184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6D6F5"/>
                </a:solidFill>
                <a:latin typeface="Aptos"/>
              </a:rPr>
              <a:t>END STATE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74519" y="5586984"/>
            <a:ext cx="9235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F5F7FA"/>
                </a:solidFill>
                <a:latin typeface="Aptos"/>
              </a:rPr>
              <a:t>A utility-wide decision layer that answers: what is happening, why it matters, what happens next, and what should we do?</a:t>
            </a:r>
          </a:p>
        </p:txBody>
      </p:sp>
      <p:pic>
        <p:nvPicPr>
          <p:cNvPr id="56" name="Picture 55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828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3392" y="80467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6D6F5"/>
                </a:solidFill>
                <a:latin typeface="Aptos"/>
              </a:rPr>
              <a:t>UTILITY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6583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5F7FA"/>
                </a:solidFill>
                <a:latin typeface="Aptos"/>
              </a:rPr>
              <a:t>See the asset.
Understand the risk.
Act before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41648"/>
            <a:ext cx="6492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4B2C3"/>
                </a:solidFill>
                <a:latin typeface="Aptos"/>
              </a:rPr>
              <a:t>A working solar-panel prototype today.
An Asset Intelligence Platform for the utility tomorrow.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5074920"/>
            <a:ext cx="4389120" cy="292608"/>
          </a:xfrm>
          <a:prstGeom prst="roundRect">
            <a:avLst/>
          </a:prstGeom>
          <a:solidFill>
            <a:srgbClr val="16202F"/>
          </a:solidFill>
          <a:ln>
            <a:solidFill>
              <a:srgbClr val="A4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5084064"/>
            <a:ext cx="4389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A4EB5B"/>
                </a:solidFill>
                <a:latin typeface="Aptos"/>
              </a:rPr>
              <a:t>OBSERVE  →  UNDERSTAND  →  DECIDE  →  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08760"/>
            <a:ext cx="2560320" cy="2560320"/>
          </a:xfrm>
          <a:prstGeom prst="roundRect">
            <a:avLst/>
          </a:prstGeom>
          <a:solidFill>
            <a:srgbClr val="16202F"/>
          </a:solidFill>
          <a:ln>
            <a:solidFill>
              <a:srgbClr val="36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9659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6D6F5"/>
                </a:solidFill>
                <a:latin typeface="Aptos"/>
              </a:rPr>
              <a:t>ASSET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23160"/>
            <a:ext cx="25603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IDENTITY
+
CONDITION
+
CONTEXT
+
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434840"/>
            <a:ext cx="3749039" cy="685800"/>
          </a:xfrm>
          <a:prstGeom prst="roundRect">
            <a:avLst/>
          </a:prstGeom>
          <a:solidFill>
            <a:srgbClr val="111926"/>
          </a:solidFill>
          <a:ln>
            <a:solidFill>
              <a:srgbClr val="2A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4626864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4EB5B"/>
                </a:solidFill>
                <a:latin typeface="Aptos"/>
              </a:rPr>
              <a:t>From detection to decision.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25912" y="640080"/>
            <a:ext cx="685800" cy="0"/>
          </a:xfrm>
          <a:prstGeom prst="line">
            <a:avLst/>
          </a:prstGeom>
          <a:ln w="15240">
            <a:solidFill>
              <a:srgbClr val="36D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6473952"/>
            <a:ext cx="11082528" cy="0"/>
          </a:xfrm>
          <a:prstGeom prst="line">
            <a:avLst/>
          </a:prstGeom>
          <a:ln w="10160">
            <a:solidFill>
              <a:srgbClr val="2A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3"/>
                </a:solidFill>
                <a:latin typeface="Aptos"/>
              </a:rPr>
              <a:t>NiX Utility AI  •  Asset Intelligence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0138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4B2C3"/>
                </a:solidFill>
                <a:latin typeface="Aptos"/>
              </a:rPr>
              <a:t>10</a:t>
            </a:r>
          </a:p>
        </p:txBody>
      </p:sp>
      <p:pic>
        <p:nvPicPr>
          <p:cNvPr id="19" name="Picture 18" descr="e7659ad6-72e7-4587-a2f9-e3e4e3a334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Hariharan R</cp:lastModifiedBy>
  <cp:revision>2</cp:revision>
  <dcterms:created xsi:type="dcterms:W3CDTF">2013-01-27T09:14:16Z</dcterms:created>
  <dcterms:modified xsi:type="dcterms:W3CDTF">2026-10-22T06:21:10Z</dcterms:modified>
  <cp:category/>
</cp:coreProperties>
</file>