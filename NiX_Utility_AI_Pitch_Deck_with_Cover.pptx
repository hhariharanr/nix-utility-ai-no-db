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3DBE0"/>
                </a:solidFill>
                <a:latin typeface="Aptos"/>
              </a:rPr>
              <a:t>01  /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Utilities have assets. They need asset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07592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8"/>
                </a:solidFill>
                <a:latin typeface="Aptos"/>
              </a:rPr>
              <a:t>Maintenance decisions are increasingly data-rich — but the intelligence layer between observation and action is fragmented.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2029968"/>
            <a:ext cx="2743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3DBE0"/>
                </a:solidFill>
                <a:latin typeface="Aptos"/>
              </a:rPr>
              <a:t>THE SCALE OF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59152"/>
            <a:ext cx="470916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Aptos"/>
              </a:rPr>
              <a:t>Inspecting an asset is not the same as understanding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01568"/>
            <a:ext cx="4572000" cy="804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8"/>
                </a:solidFill>
                <a:latin typeface="Aptos"/>
              </a:rPr>
              <a:t>At utility scale, people must connect images, GIS identity, history, telemetry and environmental context before they can quantify risk or decide what to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084831"/>
            <a:ext cx="1737360" cy="71323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2203703"/>
            <a:ext cx="15087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2441448"/>
            <a:ext cx="15087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Photos • video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084831"/>
            <a:ext cx="1737360" cy="71323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7" y="2203703"/>
            <a:ext cx="15087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9EFEE"/>
                </a:solidFill>
                <a:latin typeface="Aptos"/>
              </a:rPr>
              <a:t>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7" y="2441448"/>
            <a:ext cx="15087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Location • attributes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084831"/>
            <a:ext cx="1737360" cy="71323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02367" y="2203703"/>
            <a:ext cx="15087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58DC9D"/>
                </a:solidFill>
                <a:latin typeface="Aptos"/>
              </a:rPr>
              <a:t>SCADA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7" y="2441448"/>
            <a:ext cx="15087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Signals •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1968" y="3154680"/>
            <a:ext cx="1737360" cy="71323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3273552"/>
            <a:ext cx="15087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7BE54"/>
                </a:solidFill>
                <a:latin typeface="Aptos"/>
              </a:rPr>
              <a:t>THERMAL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3511296"/>
            <a:ext cx="15087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Heat / condition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59368" y="3154680"/>
            <a:ext cx="1737360" cy="71323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9096" y="3273552"/>
            <a:ext cx="15087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WEATHER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9096" y="3511296"/>
            <a:ext cx="15087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Exposure / environment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224528"/>
            <a:ext cx="1737360" cy="71323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4967" y="4343400"/>
            <a:ext cx="15087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56970"/>
                </a:solidFill>
                <a:latin typeface="Aptos"/>
              </a:rPr>
              <a:t>ROW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7" y="4581144"/>
            <a:ext cx="15087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Encroachment / vegetation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983480"/>
            <a:ext cx="5897880" cy="685800"/>
          </a:xfrm>
          <a:prstGeom prst="roundRect">
            <a:avLst>
              <a:gd name="adj" fmla="val 12000"/>
            </a:avLst>
          </a:prstGeom>
          <a:solidFill>
            <a:srgbClr val="0A2731"/>
          </a:solidFill>
          <a:ln>
            <a:solidFill>
              <a:srgbClr val="22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02352"/>
            <a:ext cx="1325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THE NIX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5065776"/>
            <a:ext cx="39776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4F8FC"/>
                </a:solidFill>
                <a:latin typeface="Aptos"/>
              </a:rPr>
              <a:t>A digital inspector that sees minute signals at scale — then turns them into quantified, explainable decisions.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14032" y="4965192"/>
            <a:ext cx="3566160" cy="658368"/>
          </a:xfrm>
          <a:prstGeom prst="roundRect">
            <a:avLst>
              <a:gd name="adj" fmla="val 12000"/>
            </a:avLst>
          </a:prstGeom>
          <a:solidFill>
            <a:srgbClr val="0A2731"/>
          </a:solidFill>
          <a:ln>
            <a:solidFill>
              <a:srgbClr val="33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3488" y="5102352"/>
            <a:ext cx="10972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MISSING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5056632"/>
            <a:ext cx="20116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4F8FC"/>
                </a:solidFill>
                <a:latin typeface="Aptos"/>
              </a:rPr>
              <a:t>Observe → Understand → Quantify → Prioritize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5D768F"/>
                </a:solidFill>
                <a:latin typeface="Aptos"/>
              </a:rPr>
              <a:t>NiX  •  UTILITY ASSET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5D768F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3DBE0"/>
                </a:solidFill>
                <a:latin typeface="Aptos"/>
              </a:rPr>
              <a:t>02  / 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One intelligence layer. Many utility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07592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8"/>
                </a:solidFill>
                <a:latin typeface="Aptos"/>
              </a:rPr>
              <a:t>NiX amplifies the people already collecting, mapping, inspecting and maintaining infrastructure.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993392"/>
            <a:ext cx="2148840" cy="3566160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691640" cy="274320"/>
          </a:xfrm>
          <a:prstGeom prst="roundRect">
            <a:avLst>
              <a:gd name="adj" fmla="val 12000"/>
            </a:avLst>
          </a:prstGeom>
          <a:solidFill>
            <a:srgbClr val="0A2631"/>
          </a:solidFill>
          <a:ln>
            <a:solidFill>
              <a:srgbClr val="22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90572"/>
            <a:ext cx="158191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33DBE0"/>
                </a:solidFill>
                <a:latin typeface="Aptos"/>
              </a:rPr>
              <a:t>PRIMARY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0048"/>
            <a:ext cx="1645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4F8FC"/>
                </a:solidFill>
                <a:latin typeface="Aptos"/>
              </a:rPr>
              <a:t>Engineers &amp;
Inspectors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47872"/>
            <a:ext cx="164592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FA3B8"/>
                </a:solidFill>
                <a:latin typeface="Aptos"/>
              </a:rPr>
              <a:t>Investigate evidence
Validate condition
Decide next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993392"/>
            <a:ext cx="3703320" cy="153619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2176272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33DBE0"/>
                </a:solidFill>
                <a:latin typeface="Aptos"/>
              </a:rPr>
              <a:t>UAS / AVIATION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468880"/>
            <a:ext cx="324612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Drone imagery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834640"/>
            <a:ext cx="3246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8FA3B8"/>
                </a:solidFill>
                <a:latin typeface="Aptos"/>
              </a:rPr>
              <a:t>Automatically inspect, classify and geo-link observations.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803904"/>
            <a:ext cx="3703320" cy="153619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3986784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33DBE0"/>
                </a:solidFill>
                <a:latin typeface="Aptos"/>
              </a:rPr>
              <a:t>LEMUR / MOBILE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4279392"/>
            <a:ext cx="324612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Field-collected asset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4645152"/>
            <a:ext cx="3246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8FA3B8"/>
                </a:solidFill>
                <a:latin typeface="Aptos"/>
              </a:rPr>
              <a:t>Turn every captured observation into structured asset intelligence.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993392"/>
            <a:ext cx="3703320" cy="153619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2176272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33DBE0"/>
                </a:solidFill>
                <a:latin typeface="Aptos"/>
              </a:rPr>
              <a:t>INSPECTION 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468880"/>
            <a:ext cx="324612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Ground + remote inspection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834640"/>
            <a:ext cx="3246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8FA3B8"/>
                </a:solidFill>
                <a:latin typeface="Aptos"/>
              </a:rPr>
              <a:t>Surface minute defects, anomalies, encroachment and vegetation.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3803904"/>
            <a:ext cx="3703320" cy="153619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3986784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58DC9D"/>
                </a:solidFill>
                <a:latin typeface="Aptos"/>
              </a:rPr>
              <a:t>MAINTENANCE /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279392"/>
            <a:ext cx="324612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Risk-ranked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645152"/>
            <a:ext cx="3246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8FA3B8"/>
                </a:solidFill>
                <a:latin typeface="Aptos"/>
              </a:rPr>
              <a:t>Quantify consequence, prioritize assets and optimize visits.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5623560"/>
            <a:ext cx="7772400" cy="475488"/>
          </a:xfrm>
          <a:prstGeom prst="roundRect">
            <a:avLst>
              <a:gd name="adj" fmla="val 12000"/>
            </a:avLst>
          </a:prstGeom>
          <a:solidFill>
            <a:srgbClr val="0B1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5769864"/>
            <a:ext cx="256032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WHERE COMPUTER VISION + GIS + IMPACT ANALYSIS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5733288"/>
            <a:ext cx="4800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4F8FC"/>
                </a:solidFill>
                <a:latin typeface="Aptos"/>
              </a:rPr>
              <a:t>Condition tagging  •  defect localization  •  asset matching  •  encroachment  •  inspection prioritization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5D768F"/>
                </a:solidFill>
                <a:latin typeface="Aptos"/>
              </a:rPr>
              <a:t>NiX  •  UTILITY ASSET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5D768F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3DBE0"/>
                </a:solidFill>
                <a:latin typeface="Aptos"/>
              </a:rPr>
              <a:t>03  /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The NiX Intelligence Layer turns observations into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07592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8"/>
                </a:solidFill>
                <a:latin typeface="Aptos"/>
              </a:rPr>
              <a:t>Every observation is anchored to a real asset, enriched with context, reasoned over, scored and converted into an actionable priority.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1993392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3DBE0"/>
                </a:solidFill>
                <a:latin typeface="Aptos"/>
              </a:rPr>
              <a:t>MULTIMODAL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04288"/>
            <a:ext cx="1847088" cy="749808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2316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9EFEE"/>
                </a:solidFill>
                <a:latin typeface="Aptos"/>
              </a:rPr>
              <a:t>RGB /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60904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Field &amp; UAS imagery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64408"/>
            <a:ext cx="1847088" cy="749808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3832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9EFEE"/>
                </a:solidFill>
                <a:latin typeface="Aptos"/>
              </a:rPr>
              <a:t>THERMAL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621024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Condition signatures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24528"/>
            <a:ext cx="1847088" cy="749808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34340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9EFEE"/>
                </a:solidFill>
                <a:latin typeface="Aptos"/>
              </a:rPr>
              <a:t>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581144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Geometry + 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304288"/>
            <a:ext cx="1847088" cy="749808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42316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9EFEE"/>
                </a:solidFill>
                <a:latin typeface="Aptos"/>
              </a:rPr>
              <a:t>SCADA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660904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Telemetry / signals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3264408"/>
            <a:ext cx="1847088" cy="749808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33832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9EFEE"/>
                </a:solidFill>
                <a:latin typeface="Aptos"/>
              </a:rPr>
              <a:t>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3621024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Environmental exposure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51760" y="4224528"/>
            <a:ext cx="1847088" cy="749808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0632" y="434340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79EFEE"/>
                </a:solidFill>
                <a:latin typeface="Aptos"/>
              </a:rPr>
              <a:t>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0632" y="4581144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0" b="0">
                <a:solidFill>
                  <a:srgbClr val="F4F8FC"/>
                </a:solidFill>
                <a:latin typeface="Aptos"/>
              </a:rPr>
              <a:t>Inspection / maintenance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2084831"/>
            <a:ext cx="2057400" cy="3566160"/>
          </a:xfrm>
          <a:prstGeom prst="roundRect">
            <a:avLst>
              <a:gd name="adj" fmla="val 12000"/>
            </a:avLst>
          </a:prstGeom>
          <a:solidFill>
            <a:srgbClr val="0A2731"/>
          </a:solidFill>
          <a:ln>
            <a:solidFill>
              <a:srgbClr val="33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2" y="2395728"/>
            <a:ext cx="1417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33DBE0"/>
                </a:solidFill>
                <a:latin typeface="Aptos"/>
              </a:rPr>
              <a:t>NiX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2944368"/>
            <a:ext cx="14173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4F8FC"/>
                </a:solidFill>
                <a:latin typeface="Aptos"/>
              </a:rPr>
              <a:t>DIGITAL
INSPECTOR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9512" y="3703320"/>
            <a:ext cx="155448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FA3B8"/>
                </a:solidFill>
                <a:latin typeface="Aptos"/>
              </a:rPr>
              <a:t>Computer Vision
+ Geo-spatial reasoning
+ LLM orchestration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30368" y="4782312"/>
            <a:ext cx="1554480" cy="274320"/>
          </a:xfrm>
          <a:prstGeom prst="roundRect">
            <a:avLst>
              <a:gd name="adj" fmla="val 12000"/>
            </a:avLst>
          </a:prstGeom>
          <a:solidFill>
            <a:srgbClr val="0A2631"/>
          </a:solidFill>
          <a:ln>
            <a:solidFill>
              <a:srgbClr val="22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1" y="4832604"/>
            <a:ext cx="144475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33DBE0"/>
                </a:solidFill>
                <a:latin typeface="Aptos"/>
              </a:rPr>
              <a:t>CONFIDENCE +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62272" y="2606040"/>
            <a:ext cx="493776" cy="0"/>
          </a:xfrm>
          <a:prstGeom prst="line">
            <a:avLst/>
          </a:prstGeom>
          <a:ln w="16510">
            <a:solidFill>
              <a:srgbClr val="33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68312" y="2606040"/>
            <a:ext cx="521208" cy="0"/>
          </a:xfrm>
          <a:prstGeom prst="line">
            <a:avLst/>
          </a:prstGeom>
          <a:ln w="16510">
            <a:solidFill>
              <a:srgbClr val="33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62272" y="3566160"/>
            <a:ext cx="493776" cy="0"/>
          </a:xfrm>
          <a:prstGeom prst="line">
            <a:avLst/>
          </a:prstGeom>
          <a:ln w="16510">
            <a:solidFill>
              <a:srgbClr val="33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68312" y="3566160"/>
            <a:ext cx="521208" cy="0"/>
          </a:xfrm>
          <a:prstGeom prst="line">
            <a:avLst/>
          </a:prstGeom>
          <a:ln w="16510">
            <a:solidFill>
              <a:srgbClr val="33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62272" y="4526280"/>
            <a:ext cx="493776" cy="0"/>
          </a:xfrm>
          <a:prstGeom prst="line">
            <a:avLst/>
          </a:prstGeom>
          <a:ln w="16510">
            <a:solidFill>
              <a:srgbClr val="33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68312" y="4526280"/>
            <a:ext cx="521208" cy="0"/>
          </a:xfrm>
          <a:prstGeom prst="line">
            <a:avLst/>
          </a:prstGeom>
          <a:ln w="16510">
            <a:solidFill>
              <a:srgbClr val="33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635240" y="1993392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3DBE0"/>
                </a:solidFill>
                <a:latin typeface="Aptos"/>
              </a:rPr>
              <a:t>ASSET PASSPORT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2304288"/>
            <a:ext cx="3703320" cy="98755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solidFill>
              <a:srgbClr val="22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2514600"/>
            <a:ext cx="3246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4F8FC"/>
                </a:solidFill>
                <a:latin typeface="Aptos"/>
              </a:rPr>
              <a:t>IDENTITY + CONDITION + 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2834640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8FA3B8"/>
                </a:solidFill>
                <a:latin typeface="Aptos"/>
              </a:rPr>
              <a:t>Asset ID • geo • attributes • detected issue • history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35240" y="3547872"/>
            <a:ext cx="3703320" cy="98755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solidFill>
              <a:srgbClr val="22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3758184"/>
            <a:ext cx="3246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4F8FC"/>
                </a:solidFill>
                <a:latin typeface="Aptos"/>
              </a:rPr>
              <a:t>REASON + QUANTIFY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078224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8FA3B8"/>
                </a:solidFill>
                <a:latin typeface="Aptos"/>
              </a:rPr>
              <a:t>LLM reasoning • risk score • consequence • monetary impact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4791456"/>
            <a:ext cx="3703320" cy="987552"/>
          </a:xfrm>
          <a:prstGeom prst="roundRect">
            <a:avLst>
              <a:gd name="adj" fmla="val 12000"/>
            </a:avLst>
          </a:prstGeom>
          <a:solidFill>
            <a:srgbClr val="0A2731"/>
          </a:solidFill>
          <a:ln>
            <a:solidFill>
              <a:srgbClr val="33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5001768"/>
            <a:ext cx="3246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33DBE0"/>
                </a:solidFill>
                <a:latin typeface="Aptos"/>
              </a:rPr>
              <a:t>PRIORITIZE + 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5321808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9" b="0">
                <a:solidFill>
                  <a:srgbClr val="F4F8FC"/>
                </a:solidFill>
                <a:latin typeface="Aptos"/>
              </a:rPr>
              <a:t>Rank assets • recommend action • assist work planning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925312"/>
            <a:ext cx="10744200" cy="384048"/>
          </a:xfrm>
          <a:prstGeom prst="roundRect">
            <a:avLst>
              <a:gd name="adj" fmla="val 12000"/>
            </a:avLst>
          </a:prstGeom>
          <a:solidFill>
            <a:srgbClr val="0A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6025896"/>
            <a:ext cx="11430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DECISION SIGNAL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5989320"/>
            <a:ext cx="8915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4F8FC"/>
                </a:solidFill>
                <a:latin typeface="Aptos"/>
              </a:rPr>
              <a:t>Observed condition × consequence × contextual exposure → risk → priority → action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5D768F"/>
                </a:solidFill>
                <a:latin typeface="Aptos"/>
              </a:rPr>
              <a:t>NiX  •  UTILITY ASSET INTELLIGENCE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5D768F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3DBE0"/>
                </a:solidFill>
                <a:latin typeface="Aptos"/>
              </a:rPr>
              <a:t>04  /  FUTURE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From an imagery repository to a living Asset Passport.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07592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8"/>
                </a:solidFill>
                <a:latin typeface="Aptos"/>
              </a:rPr>
              <a:t>NiX does not replace the systems NiSource is building. It makes their data more intelligent by adding a decision layer on top.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993392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914400" cy="274320"/>
          </a:xfrm>
          <a:prstGeom prst="roundRect">
            <a:avLst>
              <a:gd name="adj" fmla="val 12000"/>
            </a:avLst>
          </a:prstGeom>
          <a:solidFill>
            <a:srgbClr val="0A2631"/>
          </a:solidFill>
          <a:ln>
            <a:solidFill>
              <a:srgbClr val="22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290572"/>
            <a:ext cx="8046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8FA3B8"/>
                </a:solidFill>
                <a:latin typeface="Aptos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43891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Aptos"/>
              </a:rPr>
              <a:t>Collect → map → store → 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27248"/>
            <a:ext cx="425196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FA3B8"/>
                </a:solidFill>
                <a:latin typeface="Aptos"/>
              </a:rPr>
              <a:t>UAS / mobile mapping / field inspection create a growing body of asset imagery and spatial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05072"/>
            <a:ext cx="960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IMAGERY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005072"/>
            <a:ext cx="3337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F4F8FC"/>
                </a:solidFill>
                <a:latin typeface="Aptos"/>
              </a:rPr>
              <a:t>More 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9704"/>
            <a:ext cx="960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489704"/>
            <a:ext cx="3337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F4F8FC"/>
                </a:solidFill>
                <a:latin typeface="Aptos"/>
              </a:rPr>
              <a:t>More precise asset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74336"/>
            <a:ext cx="960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74336"/>
            <a:ext cx="3337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F4F8FC"/>
                </a:solidFill>
                <a:latin typeface="Aptos"/>
              </a:rPr>
              <a:t>More history and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3016" y="3401568"/>
            <a:ext cx="4114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33DBE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993392"/>
            <a:ext cx="5029200" cy="3611880"/>
          </a:xfrm>
          <a:prstGeom prst="roundRect">
            <a:avLst>
              <a:gd name="adj" fmla="val 12000"/>
            </a:avLst>
          </a:prstGeom>
          <a:solidFill>
            <a:srgbClr val="0A2731"/>
          </a:solidFill>
          <a:ln>
            <a:solidFill>
              <a:srgbClr val="33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2240280"/>
            <a:ext cx="1143000" cy="274320"/>
          </a:xfrm>
          <a:prstGeom prst="roundRect">
            <a:avLst>
              <a:gd name="adj" fmla="val 12000"/>
            </a:avLst>
          </a:prstGeom>
          <a:solidFill>
            <a:srgbClr val="0A2631"/>
          </a:solidFill>
          <a:ln>
            <a:solidFill>
              <a:srgbClr val="223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2290572"/>
            <a:ext cx="1033271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33DBE0"/>
                </a:solidFill>
                <a:latin typeface="Aptos"/>
              </a:rPr>
              <a:t>NIX 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51760"/>
            <a:ext cx="41605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4F8FC"/>
                </a:solidFill>
                <a:latin typeface="Aptos"/>
              </a:rPr>
              <a:t>A living intelligence layer
for every asset.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02152"/>
            <a:ext cx="7772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1">
                <a:solidFill>
                  <a:srgbClr val="33DBE0"/>
                </a:solidFill>
                <a:latin typeface="Aptos"/>
              </a:rPr>
              <a:t>SEE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3502152"/>
            <a:ext cx="3474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F4F8FC"/>
                </a:solidFill>
                <a:latin typeface="Aptos"/>
              </a:rPr>
              <a:t>CV finds what people may miss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895344"/>
            <a:ext cx="7772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1">
                <a:solidFill>
                  <a:srgbClr val="33DBE0"/>
                </a:solidFill>
                <a:latin typeface="Aptos"/>
              </a:rPr>
              <a:t>LOCATE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895344"/>
            <a:ext cx="3474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F4F8FC"/>
                </a:solidFill>
                <a:latin typeface="Aptos"/>
              </a:rPr>
              <a:t>GIS anchors it to the right 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288536"/>
            <a:ext cx="7772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1">
                <a:solidFill>
                  <a:srgbClr val="33DBE0"/>
                </a:solidFill>
                <a:latin typeface="Aptos"/>
              </a:rPr>
              <a:t>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4288536"/>
            <a:ext cx="3474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F4F8FC"/>
                </a:solidFill>
                <a:latin typeface="Aptos"/>
              </a:rPr>
              <a:t>LLM connects attributes +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681728"/>
            <a:ext cx="7772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1">
                <a:solidFill>
                  <a:srgbClr val="33DBE0"/>
                </a:solidFill>
                <a:latin typeface="Aptos"/>
              </a:rPr>
              <a:t>QUANTIFY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4681728"/>
            <a:ext cx="3474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F4F8FC"/>
                </a:solidFill>
                <a:latin typeface="Aptos"/>
              </a:rPr>
              <a:t>Risk + consequence + $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074920"/>
            <a:ext cx="7772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1">
                <a:solidFill>
                  <a:srgbClr val="33DBE0"/>
                </a:solidFill>
                <a:latin typeface="Aptos"/>
              </a:rPr>
              <a:t>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5074920"/>
            <a:ext cx="3474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F4F8FC"/>
                </a:solidFill>
                <a:latin typeface="Aptos"/>
              </a:rPr>
              <a:t>Prioritized, explainable assistance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824728"/>
            <a:ext cx="10789920" cy="502920"/>
          </a:xfrm>
          <a:prstGeom prst="roundRect">
            <a:avLst>
              <a:gd name="adj" fmla="val 12000"/>
            </a:avLst>
          </a:prstGeom>
          <a:solidFill>
            <a:srgbClr val="0C3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971032"/>
            <a:ext cx="77724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THE SHIFT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916168"/>
            <a:ext cx="914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F4F8FC"/>
                </a:solidFill>
                <a:latin typeface="Aptos"/>
              </a:rPr>
              <a:t>From “Where is the asset data?” → “What is happening to the asset, why, and what should we do?”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5D768F"/>
                </a:solidFill>
                <a:latin typeface="Aptos"/>
              </a:rPr>
              <a:t>NiX  •  UTILITY ASSET 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5D768F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3DBE0"/>
                </a:solidFill>
                <a:latin typeface="Aptos"/>
              </a:rPr>
              <a:t>05  / 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Aptos"/>
              </a:rPr>
              <a:t>Make every inspection, engineer and maintenance dollar more intelligent.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07592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FA3B8"/>
                </a:solidFill>
                <a:latin typeface="Aptos"/>
              </a:rPr>
              <a:t>A scalable decision layer turns the growing volume of asset data into measurable operational leverage.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2011680"/>
            <a:ext cx="5074920" cy="126187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12848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DBE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76272"/>
            <a:ext cx="40690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4F8FC"/>
                </a:solidFill>
                <a:latin typeface="Aptos"/>
              </a:rPr>
              <a:t>LESS MANUAL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96312"/>
            <a:ext cx="406908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0" b="0">
                <a:solidFill>
                  <a:srgbClr val="8FA3B8"/>
                </a:solidFill>
                <a:latin typeface="Aptos"/>
              </a:rPr>
              <a:t>AI reviews imagery at scale and surfaces minute anomalies for human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5074920" cy="126187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212848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9EFE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176272"/>
            <a:ext cx="40690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4F8FC"/>
                </a:solidFill>
                <a:latin typeface="Aptos"/>
              </a:rPr>
              <a:t>FEWER MISSED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496312"/>
            <a:ext cx="406908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0" b="0">
                <a:solidFill>
                  <a:srgbClr val="8FA3B8"/>
                </a:solidFill>
                <a:latin typeface="Aptos"/>
              </a:rPr>
              <a:t>Computer vision consistently scans large image volumes for subtle condition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5074920" cy="126187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721608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DC9D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85032"/>
            <a:ext cx="40690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4F8FC"/>
                </a:solidFill>
                <a:latin typeface="Aptos"/>
              </a:rPr>
              <a:t>SMARTER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05072"/>
            <a:ext cx="406908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0" b="0">
                <a:solidFill>
                  <a:srgbClr val="8FA3B8"/>
                </a:solidFill>
                <a:latin typeface="Aptos"/>
              </a:rPr>
              <a:t>Quantify risk and monetary impact so teams prioritize the assets that matter most.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520440"/>
            <a:ext cx="5074920" cy="1261872"/>
          </a:xfrm>
          <a:prstGeom prst="roundRect">
            <a:avLst>
              <a:gd name="adj" fmla="val 12000"/>
            </a:avLst>
          </a:prstGeom>
          <a:solidFill>
            <a:srgbClr val="0E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721608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BE54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685032"/>
            <a:ext cx="40690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4F8FC"/>
                </a:solidFill>
                <a:latin typeface="Aptos"/>
              </a:rPr>
              <a:t>FASTER FIELD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005072"/>
            <a:ext cx="406908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0" b="0">
                <a:solidFill>
                  <a:srgbClr val="8FA3B8"/>
                </a:solidFill>
                <a:latin typeface="Aptos"/>
              </a:rPr>
              <a:t>Give engineers an Asset Passport and explainable recommendations instead of fragmented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93792"/>
            <a:ext cx="10789920" cy="640080"/>
          </a:xfrm>
          <a:prstGeom prst="roundRect">
            <a:avLst>
              <a:gd name="adj" fmla="val 12000"/>
            </a:avLst>
          </a:prstGeom>
          <a:solidFill>
            <a:srgbClr val="0A2731"/>
          </a:solidFill>
          <a:ln>
            <a:solidFill>
              <a:srgbClr val="33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58384"/>
            <a:ext cx="118872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3DBE0"/>
                </a:solidFill>
                <a:latin typeface="Aptos"/>
              </a:rPr>
              <a:t>DEPLOYMENT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312664"/>
            <a:ext cx="86410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F4F8FC"/>
                </a:solidFill>
                <a:latin typeface="Aptos"/>
              </a:rPr>
              <a:t>ONE ASSET CLASS  →  ONE OPERATING AREA  →  REAL DATA  →  MEASURE  → 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53328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1">
                <a:solidFill>
                  <a:srgbClr val="8FA3B8"/>
                </a:solidFill>
                <a:latin typeface="Aptos"/>
              </a:rPr>
              <a:t>The long-term vision: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6007608"/>
            <a:ext cx="91897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4F8FC"/>
                </a:solidFill>
                <a:latin typeface="Aptos"/>
              </a:rPr>
              <a:t>a utility-wide Asset Intelligence Platform that assists engineers, optimizes workforce decisions, and moves maintenance from reactive to proactive.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6446520"/>
            <a:ext cx="11000232" cy="0"/>
          </a:xfrm>
          <a:prstGeom prst="line">
            <a:avLst/>
          </a:prstGeom>
          <a:ln w="10160">
            <a:solidFill>
              <a:srgbClr val="223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5D768F"/>
                </a:solidFill>
                <a:latin typeface="Aptos"/>
              </a:rPr>
              <a:t>NiX  •  UTILITY ASSET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5D768F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83480" y="4224528"/>
            <a:ext cx="2240280" cy="32004"/>
          </a:xfrm>
          <a:prstGeom prst="rect">
            <a:avLst/>
          </a:prstGeom>
          <a:solidFill>
            <a:srgbClr val="21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7659ad6-72e7-4587-a2f9-e3e4e3a3347d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960120"/>
            <a:ext cx="2834640" cy="2834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498848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4F8FC"/>
                </a:solidFill>
                <a:latin typeface="Aptos Display"/>
              </a:rPr>
              <a:t>UTILITY ASSET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76672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1DBE0"/>
                </a:solidFill>
                <a:latin typeface="Aptos"/>
              </a:rPr>
              <a:t>BY TEAM JARVIS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45352"/>
            <a:ext cx="103601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859AB1"/>
                </a:solidFill>
                <a:latin typeface="Aptos"/>
              </a:rPr>
              <a:t>AI  •  GIS  •  ASSET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